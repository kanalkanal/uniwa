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3" r:id="rId9"/>
    <p:sldId id="262" r:id="rId10"/>
    <p:sldId id="273" r:id="rId11"/>
    <p:sldId id="272" r:id="rId12"/>
    <p:sldId id="274" r:id="rId13"/>
    <p:sldId id="275" r:id="rId14"/>
    <p:sldId id="276" r:id="rId15"/>
    <p:sldId id="277" r:id="rId16"/>
    <p:sldId id="281" r:id="rId17"/>
    <p:sldId id="282" r:id="rId18"/>
    <p:sldId id="283" r:id="rId19"/>
    <p:sldId id="284" r:id="rId20"/>
    <p:sldId id="285" r:id="rId21"/>
    <p:sldId id="28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26" y="1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F4BF-D172-4C7D-BA07-3F9E2585E16A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F53D-D50A-41CD-819D-22C4470D7E3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448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F4BF-D172-4C7D-BA07-3F9E2585E16A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F53D-D50A-41CD-819D-22C4470D7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4258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F4BF-D172-4C7D-BA07-3F9E2585E16A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F53D-D50A-41CD-819D-22C4470D7E3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792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F4BF-D172-4C7D-BA07-3F9E2585E16A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F53D-D50A-41CD-819D-22C4470D7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444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F4BF-D172-4C7D-BA07-3F9E2585E16A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F53D-D50A-41CD-819D-22C4470D7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869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F4BF-D172-4C7D-BA07-3F9E2585E16A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F53D-D50A-41CD-819D-22C4470D7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0000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F4BF-D172-4C7D-BA07-3F9E2585E16A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F53D-D50A-41CD-819D-22C4470D7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468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367F4BF-D172-4C7D-BA07-3F9E2585E16A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A16F53D-D50A-41CD-819D-22C4470D7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875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F4BF-D172-4C7D-BA07-3F9E2585E16A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F53D-D50A-41CD-819D-22C4470D7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98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F4BF-D172-4C7D-BA07-3F9E2585E16A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F53D-D50A-41CD-819D-22C4470D7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567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F4BF-D172-4C7D-BA07-3F9E2585E16A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F53D-D50A-41CD-819D-22C4470D7E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3491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367F4BF-D172-4C7D-BA07-3F9E2585E16A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A16F53D-D50A-41CD-819D-22C4470D7E36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0018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550E7-AE56-B246-366A-70BFA0E98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98436"/>
            <a:ext cx="10058400" cy="1450757"/>
          </a:xfrm>
        </p:spPr>
        <p:txBody>
          <a:bodyPr>
            <a:normAutofit/>
          </a:bodyPr>
          <a:lstStyle/>
          <a:p>
            <a:r>
              <a:rPr lang="el-GR" dirty="0"/>
              <a:t>Κατασκευή Αυτοκινούμενου Οχήματος </a:t>
            </a:r>
            <a:br>
              <a:rPr lang="en-GB" dirty="0"/>
            </a:br>
            <a:r>
              <a:rPr lang="el-GR" dirty="0"/>
              <a:t>με </a:t>
            </a:r>
            <a:r>
              <a:rPr lang="el-GR" dirty="0" err="1"/>
              <a:t>Arduino</a:t>
            </a:r>
            <a:r>
              <a:rPr lang="el-GR" dirty="0"/>
              <a:t> </a:t>
            </a:r>
            <a:r>
              <a:rPr lang="en-US" dirty="0"/>
              <a:t>UNO </a:t>
            </a:r>
            <a:r>
              <a:rPr lang="el-GR" dirty="0"/>
              <a:t>για Αποφυγή Εμποδίων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D9C91-3DE3-7C65-34BB-BD4987E3D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3581661"/>
            <a:ext cx="10058400" cy="2515251"/>
          </a:xfrm>
        </p:spPr>
        <p:txBody>
          <a:bodyPr/>
          <a:lstStyle/>
          <a:p>
            <a:r>
              <a:rPr lang="el-GR" b="1" dirty="0"/>
              <a:t>Ονοματεπώνυμα Φοιτητών:</a:t>
            </a:r>
            <a:endParaRPr lang="en-GB" dirty="0"/>
          </a:p>
          <a:p>
            <a:r>
              <a:rPr lang="el-GR" dirty="0"/>
              <a:t>1) Ιωάννης Κώτσης – ΑΜ 80966107</a:t>
            </a:r>
            <a:endParaRPr lang="en-GB" dirty="0"/>
          </a:p>
          <a:p>
            <a:r>
              <a:rPr lang="el-GR" dirty="0"/>
              <a:t>2) Θεόδωρος </a:t>
            </a:r>
            <a:r>
              <a:rPr lang="el-GR" dirty="0" err="1"/>
              <a:t>Μπαϊρλής</a:t>
            </a:r>
            <a:r>
              <a:rPr lang="el-GR" dirty="0"/>
              <a:t> – ΑΜ 8096694</a:t>
            </a:r>
            <a:endParaRPr lang="en-GB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F33BF4-3637-CC31-CA8B-BDBE947D77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339" b="10624"/>
          <a:stretch>
            <a:fillRect/>
          </a:stretch>
        </p:blipFill>
        <p:spPr bwMode="auto">
          <a:xfrm>
            <a:off x="5370830" y="2430585"/>
            <a:ext cx="6479540" cy="3403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99048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3CC27-CCB5-E924-D3F5-DEEEB4F4A5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2C3A7E-FDCD-E094-B0D9-95BC3859C8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l-GR" sz="4000" b="1" dirty="0"/>
              <a:t>όχημα 1</a:t>
            </a:r>
            <a:endParaRPr lang="en-GB" sz="4000" b="1" dirty="0"/>
          </a:p>
        </p:txBody>
      </p:sp>
      <p:pic>
        <p:nvPicPr>
          <p:cNvPr id="4" name="Εικόνα 12">
            <a:extLst>
              <a:ext uri="{FF2B5EF4-FFF2-40B4-BE49-F238E27FC236}">
                <a16:creationId xmlns:a16="http://schemas.microsoft.com/office/drawing/2014/main" id="{F7AC65CC-FF34-9F77-5BB1-D8E7BDD0835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70" b="3561"/>
          <a:stretch>
            <a:fillRect/>
          </a:stretch>
        </p:blipFill>
        <p:spPr bwMode="auto">
          <a:xfrm>
            <a:off x="2712440" y="264730"/>
            <a:ext cx="6828080" cy="41043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39497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5D38-59EA-E354-C73C-78BC31DAC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Βιβλιοθήκες &amp; Ορισμός </a:t>
            </a:r>
            <a:r>
              <a:rPr lang="en-GB" b="1" dirty="0"/>
              <a:t>Pin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7AB532-588A-9DF5-B86E-65305A2258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0115"/>
            <a:ext cx="4620270" cy="26197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219998-3BF3-E524-3FA3-3F69C3A49345}"/>
              </a:ext>
            </a:extLst>
          </p:cNvPr>
          <p:cNvSpPr txBox="1"/>
          <p:nvPr/>
        </p:nvSpPr>
        <p:spPr>
          <a:xfrm>
            <a:off x="5800726" y="1816345"/>
            <a:ext cx="60974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Εισάγει τη βιβλιοθήκη για τον έλεγχο του </a:t>
            </a:r>
            <a:r>
              <a:rPr lang="el-GR" dirty="0" err="1"/>
              <a:t>σερβοκινητήρα</a:t>
            </a:r>
            <a:endParaRPr lang="el-G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Ορίζει σε ποια </a:t>
            </a:r>
            <a:r>
              <a:rPr lang="el-GR" dirty="0" err="1"/>
              <a:t>pin</a:t>
            </a:r>
            <a:r>
              <a:rPr lang="el-GR" dirty="0"/>
              <a:t> του </a:t>
            </a:r>
            <a:r>
              <a:rPr lang="el-GR" dirty="0" err="1"/>
              <a:t>Arduino</a:t>
            </a:r>
            <a:r>
              <a:rPr lang="el-GR" dirty="0"/>
              <a:t> είναι συνδεδεμένα τα εξαρτήματα: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Τα </a:t>
            </a:r>
            <a:r>
              <a:rPr lang="el-GR" dirty="0" err="1"/>
              <a:t>pin</a:t>
            </a:r>
            <a:r>
              <a:rPr lang="el-GR" dirty="0"/>
              <a:t> 8-11 ελέγχουν τους κινητήρες μέσω L298N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Τα A0-A1 επικοινωνούν με τον αισθητήρα απόστασης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Το </a:t>
            </a:r>
            <a:r>
              <a:rPr lang="el-GR" dirty="0" err="1"/>
              <a:t>pin</a:t>
            </a:r>
            <a:r>
              <a:rPr lang="el-GR" dirty="0"/>
              <a:t> 12 ελέγχει τον </a:t>
            </a:r>
            <a:r>
              <a:rPr lang="el-GR" dirty="0" err="1"/>
              <a:t>σερβοκινητήρα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3714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9D08A-4FBB-5C83-075A-3960F5E5B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Παράμετροι Λειτουργίας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506DB1-211A-C7C6-D2E6-B7A23821B3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0674"/>
          <a:stretch>
            <a:fillRect/>
          </a:stretch>
        </p:blipFill>
        <p:spPr>
          <a:xfrm>
            <a:off x="838200" y="2048149"/>
            <a:ext cx="5114192" cy="22005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8457E1-9919-A5E7-B473-4A269BBDB56D}"/>
              </a:ext>
            </a:extLst>
          </p:cNvPr>
          <p:cNvSpPr txBox="1"/>
          <p:nvPr/>
        </p:nvSpPr>
        <p:spPr>
          <a:xfrm>
            <a:off x="6096000" y="1944264"/>
            <a:ext cx="5418260" cy="2408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Ορίζει όλες τις ρυθμιζόμενες παραμέτρους σε ένα σημείο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Καθορίζει πότε το ρομπότ αντιδρά σε εμπόδιο (20 εκ.)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Προκαθορίζει τις γωνίες σάρωσης του </a:t>
            </a:r>
            <a:r>
              <a:rPr lang="el-GR" b="0" i="0" dirty="0" err="1">
                <a:effectLst/>
                <a:latin typeface="quote-cjk-patch"/>
              </a:rPr>
              <a:t>σερβοκινητήρα</a:t>
            </a:r>
            <a:endParaRPr lang="el-GR" b="0" i="0" dirty="0"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Ρυθμίζει τους χρόνους κίνησης για στροφές και όπισθεν</a:t>
            </a:r>
          </a:p>
        </p:txBody>
      </p:sp>
    </p:spTree>
    <p:extLst>
      <p:ext uri="{BB962C8B-B14F-4D97-AF65-F5344CB8AC3E}">
        <p14:creationId xmlns:p14="http://schemas.microsoft.com/office/powerpoint/2010/main" val="2384414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B71BF-A5D9-3F04-5DF0-112C9B58C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Συνάρτηση </a:t>
            </a:r>
            <a:r>
              <a:rPr lang="en-GB" b="1" dirty="0"/>
              <a:t>Setup()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0DA882-9639-FE80-4938-F4AAB08572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68582"/>
            <a:ext cx="4744112" cy="29722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EB696D-7A6F-DE86-628F-E90EC90404E3}"/>
              </a:ext>
            </a:extLst>
          </p:cNvPr>
          <p:cNvSpPr txBox="1"/>
          <p:nvPr/>
        </p:nvSpPr>
        <p:spPr>
          <a:xfrm>
            <a:off x="5739179" y="1942892"/>
            <a:ext cx="6097464" cy="3018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Εκτελείται μία φορά κατά την εκκίνηση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b="0" i="0" dirty="0" err="1">
                <a:effectLst/>
                <a:latin typeface="quote-cjk-patch"/>
              </a:rPr>
              <a:t>Αρχικοποιεί</a:t>
            </a:r>
            <a:r>
              <a:rPr lang="el-GR" b="0" i="0" dirty="0">
                <a:effectLst/>
                <a:latin typeface="quote-cjk-patch"/>
              </a:rPr>
              <a:t> όλες τις συνδέσεις: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Ορίζει τα </a:t>
            </a:r>
            <a:r>
              <a:rPr lang="el-GR" b="0" i="0" dirty="0" err="1">
                <a:effectLst/>
                <a:latin typeface="quote-cjk-patch"/>
              </a:rPr>
              <a:t>pin</a:t>
            </a:r>
            <a:r>
              <a:rPr lang="el-GR" b="0" i="0" dirty="0">
                <a:effectLst/>
                <a:latin typeface="quote-cjk-patch"/>
              </a:rPr>
              <a:t> ως είσοδο ή έξοδο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Ενεργοποιεί τον </a:t>
            </a:r>
            <a:r>
              <a:rPr lang="el-GR" b="0" i="0" dirty="0" err="1">
                <a:effectLst/>
                <a:latin typeface="quote-cjk-patch"/>
              </a:rPr>
              <a:t>σερβοκινητήρα</a:t>
            </a:r>
            <a:r>
              <a:rPr lang="el-GR" b="0" i="0" dirty="0">
                <a:effectLst/>
                <a:latin typeface="quote-cjk-patch"/>
              </a:rPr>
              <a:t> και τον τοποθετεί στο κέντρο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Ξεκινάει τη σειριακή επικοινωνία για </a:t>
            </a:r>
            <a:r>
              <a:rPr lang="el-GR" b="0" i="0" dirty="0" err="1">
                <a:effectLst/>
                <a:latin typeface="quote-cjk-patch"/>
              </a:rPr>
              <a:t>αποσφαλμάτωση</a:t>
            </a:r>
            <a:endParaRPr lang="el-GR" b="0" i="0" dirty="0">
              <a:effectLst/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Δίνει εντολή στο ρομπότ να ξεκινήσει μπροστά</a:t>
            </a:r>
          </a:p>
        </p:txBody>
      </p:sp>
    </p:spTree>
    <p:extLst>
      <p:ext uri="{BB962C8B-B14F-4D97-AF65-F5344CB8AC3E}">
        <p14:creationId xmlns:p14="http://schemas.microsoft.com/office/powerpoint/2010/main" val="672976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FBBDA-40AC-FB6A-D01A-FCBFDD4E5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Βασικός Βρόγχος </a:t>
            </a:r>
            <a:r>
              <a:rPr lang="en-GB" b="1" dirty="0"/>
              <a:t>loop()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849252-FDEB-C27B-435F-4B206C18DF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2161" y="1889819"/>
            <a:ext cx="3398544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07766D-D22C-5562-558C-5C50BBF25BFF}"/>
              </a:ext>
            </a:extLst>
          </p:cNvPr>
          <p:cNvSpPr txBox="1"/>
          <p:nvPr/>
        </p:nvSpPr>
        <p:spPr>
          <a:xfrm>
            <a:off x="4997256" y="1737360"/>
            <a:ext cx="6097464" cy="4503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Επαναλαμβάνεται συνεχώς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Ελέγχει συνεχώς αν υπάρχει εμπόδιο μπροστά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Αν δεν υπάρχει εμπόδιο, συνεχίζει μπροστά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Αν εντοπίσει εμπόδιο: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Σταματάει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Κάνει όπισθεν για λίγο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Σαρώνει αριστερά και δεξιά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Επιλέγει την κατεύθυνση με περισσότερο ελεύθερο χώρο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Στρίβει προς τα εκεί</a:t>
            </a:r>
          </a:p>
        </p:txBody>
      </p:sp>
    </p:spTree>
    <p:extLst>
      <p:ext uri="{BB962C8B-B14F-4D97-AF65-F5344CB8AC3E}">
        <p14:creationId xmlns:p14="http://schemas.microsoft.com/office/powerpoint/2010/main" val="546301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EA094-91CE-E00E-43F9-A42B5E978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Μέτρηση Απόστασης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19507F-4F56-3286-0A72-B0A0A5F288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1133"/>
            <a:ext cx="4593871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F4B608-8361-780C-27C2-15BCEC6A9E52}"/>
              </a:ext>
            </a:extLst>
          </p:cNvPr>
          <p:cNvSpPr txBox="1"/>
          <p:nvPr/>
        </p:nvSpPr>
        <p:spPr>
          <a:xfrm>
            <a:off x="5554541" y="1931133"/>
            <a:ext cx="6097464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Στέλνει υπερηχητικό παλμό και μετράει το χρόνο επιστροφής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Μετατρέπει το χρόνο σε απόσταση (διαίρεση με 58)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Λαμβάνει πολλαπλές μετρήσεις και υπολογίζει τον μέσο όρο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Απορρίπτει λανθασμένες μετρήσεις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Επιστρέφει -1 αν δεν λάβει καμία έγκυρη μέτρηση</a:t>
            </a:r>
          </a:p>
        </p:txBody>
      </p:sp>
    </p:spTree>
    <p:extLst>
      <p:ext uri="{BB962C8B-B14F-4D97-AF65-F5344CB8AC3E}">
        <p14:creationId xmlns:p14="http://schemas.microsoft.com/office/powerpoint/2010/main" val="1693937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2CA8D-12A2-82F2-CEBC-108E2CDD4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Σάρωση με </a:t>
            </a:r>
            <a:r>
              <a:rPr lang="el-GR" b="1" dirty="0" err="1"/>
              <a:t>Σερβοκινητήρα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8051C4-237F-8CAE-3138-4170B83E4A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502046"/>
            <a:ext cx="5849166" cy="1409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2D9975-92B3-30EE-8E68-19AA9F0AD032}"/>
              </a:ext>
            </a:extLst>
          </p:cNvPr>
          <p:cNvSpPr txBox="1"/>
          <p:nvPr/>
        </p:nvSpPr>
        <p:spPr>
          <a:xfrm>
            <a:off x="1097280" y="4237405"/>
            <a:ext cx="6097464" cy="1636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Περιστρέφει τον αισθητήρα σε συγκεκριμένη γωνία (αριστερά/δεξιά)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Περιμένει να σταθεροποιηθεί ο </a:t>
            </a:r>
            <a:r>
              <a:rPr lang="el-GR" b="0" i="0" dirty="0" err="1">
                <a:effectLst/>
                <a:latin typeface="quote-cjk-patch"/>
              </a:rPr>
              <a:t>σερβοκινητήρας</a:t>
            </a:r>
            <a:r>
              <a:rPr lang="el-GR" b="0" i="0" dirty="0">
                <a:effectLst/>
                <a:latin typeface="quote-cjk-patch"/>
              </a:rPr>
              <a:t> (350ms)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Επιστρέφει τη μέτρηση απόστασης από εκείνη τη γωνία</a:t>
            </a:r>
          </a:p>
        </p:txBody>
      </p:sp>
    </p:spTree>
    <p:extLst>
      <p:ext uri="{BB962C8B-B14F-4D97-AF65-F5344CB8AC3E}">
        <p14:creationId xmlns:p14="http://schemas.microsoft.com/office/powerpoint/2010/main" val="2182452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02340-C34D-3126-2633-2959CAA9C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/>
              <a:t>Έλεγχος Κινητήρων</a:t>
            </a:r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D06603-81A3-70DC-4418-2004D1C1C2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8671"/>
          <a:stretch>
            <a:fillRect/>
          </a:stretch>
        </p:blipFill>
        <p:spPr>
          <a:xfrm>
            <a:off x="838201" y="2005233"/>
            <a:ext cx="4349261" cy="28569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591412-A071-C9AF-19EA-3763CC4592E3}"/>
              </a:ext>
            </a:extLst>
          </p:cNvPr>
          <p:cNvSpPr txBox="1"/>
          <p:nvPr/>
        </p:nvSpPr>
        <p:spPr>
          <a:xfrm>
            <a:off x="5624879" y="2005233"/>
            <a:ext cx="609746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Παρέχει όλες τις βασικές κινήσεις του ρομπότ: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dirty="0"/>
              <a:t>Ενεργοποιεί τον κατάλληλο συνδυασμό </a:t>
            </a:r>
            <a:r>
              <a:rPr lang="en-GB" dirty="0"/>
              <a:t>Pin </a:t>
            </a:r>
            <a:endParaRPr lang="el-GR" dirty="0"/>
          </a:p>
          <a:p>
            <a:pPr lvl="1"/>
            <a:endParaRPr lang="el-G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dirty="0"/>
              <a:t>Εμπρός: Και οι δύο κινητήρες μπροστά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l-G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dirty="0"/>
              <a:t>Όπισθεν: Και οι δύο κινητήρες πίσω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l-G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dirty="0"/>
              <a:t>Στροφή αριστερά: Αριστερός πίσω, δεξιός μπροστά (περιστροφή επί τόπου)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l-G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dirty="0"/>
              <a:t>Στροφή δεξιά: Αριστερός μπροστά, δεξιός πίσω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l-G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dirty="0"/>
              <a:t>Σταμάτημα: Όλα τα σήματα LOW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9980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E3926-735B-340D-DD76-2A66FD72C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A4EB5-4B83-9C38-9691-3E3955C8D6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FD5B8A-E29D-7B6E-7594-35ACE661C5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l-GR" sz="4000" b="1" dirty="0"/>
              <a:t>όχημα 2</a:t>
            </a:r>
            <a:endParaRPr lang="en-GB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CC43E1-39AD-4D14-32F0-8788059E41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0"/>
          <a:stretch>
            <a:fillRect/>
          </a:stretch>
        </p:blipFill>
        <p:spPr bwMode="auto">
          <a:xfrm>
            <a:off x="3119804" y="235194"/>
            <a:ext cx="5153758" cy="413273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64099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C4D9E-72FD-A837-F9CB-8F8A56EC1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Εισαγωγή Βιβλιοθηκών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9E06B-C54B-2786-68AD-A7F0EECA4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50CDC1-C101-A08C-9207-28E114F0C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12988"/>
            <a:ext cx="3886742" cy="10097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014F47-003B-50CB-1B01-3AC8190BE024}"/>
              </a:ext>
            </a:extLst>
          </p:cNvPr>
          <p:cNvSpPr txBox="1"/>
          <p:nvPr/>
        </p:nvSpPr>
        <p:spPr>
          <a:xfrm>
            <a:off x="1097280" y="3288891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0" i="0" dirty="0">
                <a:effectLst/>
                <a:latin typeface="quote-cjk-patch"/>
              </a:rPr>
              <a:t>Φορτώνει όλες τις απαραίτητες βιβλιοθήκες για κάμερα, επικοινωνία και μαθηματικούς υπολογισμούς.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5824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2F234-B47D-62AB-F998-0C73FCD91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B6309-481D-BA27-6FAF-A6E10AECA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Ρυθμίσεις Επικοινωνίας &amp; Κάμερας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1571F-1FB9-9BA0-BC29-4B112B46E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A79918-1257-6A00-CB46-33D626935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195" y="1911162"/>
            <a:ext cx="4172532" cy="9431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4B591C-24D5-B81E-6678-2894084E4366}"/>
              </a:ext>
            </a:extLst>
          </p:cNvPr>
          <p:cNvSpPr txBox="1"/>
          <p:nvPr/>
        </p:nvSpPr>
        <p:spPr>
          <a:xfrm>
            <a:off x="1196195" y="3211083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0" i="0" dirty="0">
                <a:effectLst/>
                <a:latin typeface="quote-cjk-patch"/>
              </a:rPr>
              <a:t>Ορίζει πώς συνδέεται το </a:t>
            </a:r>
            <a:r>
              <a:rPr lang="el-GR" b="0" i="0" dirty="0" err="1">
                <a:effectLst/>
                <a:latin typeface="quote-cjk-patch"/>
              </a:rPr>
              <a:t>Pi</a:t>
            </a:r>
            <a:r>
              <a:rPr lang="el-GR" b="0" i="0" dirty="0">
                <a:effectLst/>
                <a:latin typeface="quote-cjk-patch"/>
              </a:rPr>
              <a:t> με το </a:t>
            </a:r>
            <a:r>
              <a:rPr lang="el-GR" b="0" i="0" dirty="0" err="1">
                <a:effectLst/>
                <a:latin typeface="quote-cjk-patch"/>
              </a:rPr>
              <a:t>Arduino</a:t>
            </a:r>
            <a:r>
              <a:rPr lang="el-GR" b="0" i="0" dirty="0">
                <a:effectLst/>
                <a:latin typeface="quote-cjk-patch"/>
              </a:rPr>
              <a:t> και την κάμερα.</a:t>
            </a:r>
            <a:br>
              <a:rPr lang="el-GR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7195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F2D08-9953-A80B-F722-E578CB112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32CD0-3EE0-435B-AF5C-0A241DF33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Βαθμονόμηση (</a:t>
            </a:r>
            <a:r>
              <a:rPr lang="en-GB" b="1" dirty="0"/>
              <a:t>F_PX)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013FD-56DF-5BC7-6172-0FA17F80A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836FAE-2869-38BB-8843-417E3BE12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213" y="1992151"/>
            <a:ext cx="4344006" cy="5525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66FCB5-F351-746C-F91A-ECFB82EC755E}"/>
              </a:ext>
            </a:extLst>
          </p:cNvPr>
          <p:cNvSpPr txBox="1"/>
          <p:nvPr/>
        </p:nvSpPr>
        <p:spPr>
          <a:xfrm>
            <a:off x="1404572" y="2691095"/>
            <a:ext cx="6097464" cy="2344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Είναι μια τιμή που υπολογίζεται από πειραματική διαδικασία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i="0" dirty="0">
                <a:effectLst/>
                <a:latin typeface="quote-cjk-patch"/>
              </a:rPr>
              <a:t>Επιτρέπει στο ρομπότ να μετατρέπει </a:t>
            </a:r>
            <a:r>
              <a:rPr lang="el-GR" i="0" dirty="0" err="1">
                <a:effectLst/>
                <a:latin typeface="quote-cjk-patch"/>
              </a:rPr>
              <a:t>pixels</a:t>
            </a:r>
            <a:r>
              <a:rPr lang="el-GR" i="0" dirty="0">
                <a:effectLst/>
                <a:latin typeface="quote-cjk-patch"/>
              </a:rPr>
              <a:t> σε εκατοστά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Π.χ.: Αν ξέρει ότι ένα αντικείμενο απέχει 50cm, μπορεί να υπολογίσει πόσο πλατύ είναι σε εκατοστά</a:t>
            </a:r>
          </a:p>
          <a:p>
            <a:pPr>
              <a:buNone/>
            </a:pPr>
            <a:br>
              <a:rPr lang="el-GR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0752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99116-EC02-894A-CCCB-3E41FC781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B6DD5-BA79-73A7-4D05-02A9FCC5F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 Περιοχή Ενδιαφέροντος (</a:t>
            </a:r>
            <a:r>
              <a:rPr lang="en-GB" b="1" dirty="0"/>
              <a:t>ROI)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60ADED-271F-8470-2013-56E3F6C5FB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089917"/>
            <a:ext cx="4401164" cy="12670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189493-035C-D0BB-129D-D6C9B8F4F355}"/>
              </a:ext>
            </a:extLst>
          </p:cNvPr>
          <p:cNvSpPr txBox="1"/>
          <p:nvPr/>
        </p:nvSpPr>
        <p:spPr>
          <a:xfrm>
            <a:off x="1097280" y="3709476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i="0" dirty="0">
                <a:effectLst/>
                <a:latin typeface="quote-cjk-patch"/>
              </a:rPr>
              <a:t>Κόβει την εικόνα για να αναλύει μόνο το δρόμο μπροστά, όχι τον ουρανό ή τα πλαϊνά.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7715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B7A83-E497-AA5F-B440-4024DA458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E8AE0-779A-302F-8B7E-A851EAB49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Παράμετροι Συμπεριφοράς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5856C-3350-E17E-5731-15F2D1B86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8CCEF3-9A18-6EBA-6B3C-4C514C63E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28012"/>
            <a:ext cx="6287377" cy="9621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F5B2D8-C9F1-1534-095A-43350642705A}"/>
              </a:ext>
            </a:extLst>
          </p:cNvPr>
          <p:cNvSpPr txBox="1"/>
          <p:nvPr/>
        </p:nvSpPr>
        <p:spPr>
          <a:xfrm>
            <a:off x="1097280" y="316520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0" i="0" dirty="0">
                <a:effectLst/>
                <a:latin typeface="quote-cjk-patch"/>
              </a:rPr>
              <a:t>Ορίζει πότε και πώς αντιδρά το ρομπότ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4497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181DF-CCFA-1247-FD29-A0735F8B2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Προσαρμοζόμενοι Χρόνοι Στροφής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708BF-9EC5-A467-7955-65A222B5E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FBD11A-2BCE-41D5-80D1-D772D34F4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930" y="1934260"/>
            <a:ext cx="3562847" cy="6858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DC33A4-44EF-68F5-D32C-67831BB8C73B}"/>
              </a:ext>
            </a:extLst>
          </p:cNvPr>
          <p:cNvSpPr txBox="1"/>
          <p:nvPr/>
        </p:nvSpPr>
        <p:spPr>
          <a:xfrm>
            <a:off x="1237518" y="2878499"/>
            <a:ext cx="6097464" cy="1359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Πόσο κοντά είναι το εμπόδιο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Πόσο στενός είναι ο διάδρομος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Πόσο </a:t>
            </a:r>
            <a:r>
              <a:rPr lang="el-GR" dirty="0">
                <a:latin typeface="quote-cjk-patch"/>
              </a:rPr>
              <a:t>"καλύτερο</a:t>
            </a:r>
            <a:r>
              <a:rPr lang="el-GR" b="0" i="0" dirty="0">
                <a:effectLst/>
                <a:latin typeface="quote-cjk-patch"/>
              </a:rPr>
              <a:t>" είναι το ένα μέρος</a:t>
            </a:r>
          </a:p>
        </p:txBody>
      </p:sp>
    </p:spTree>
    <p:extLst>
      <p:ext uri="{BB962C8B-B14F-4D97-AF65-F5344CB8AC3E}">
        <p14:creationId xmlns:p14="http://schemas.microsoft.com/office/powerpoint/2010/main" val="3620042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8517B-3FD0-9DB2-25D9-E9595165A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Γεωμετρία Ρομπότ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273834-B000-2BEC-E4DD-59A3E5633B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009709"/>
            <a:ext cx="5039428" cy="9526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B19914-8B93-A130-4E65-1095F3489126}"/>
              </a:ext>
            </a:extLst>
          </p:cNvPr>
          <p:cNvSpPr txBox="1"/>
          <p:nvPr/>
        </p:nvSpPr>
        <p:spPr>
          <a:xfrm>
            <a:off x="1097280" y="3167381"/>
            <a:ext cx="51452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i="0" dirty="0">
                <a:effectLst/>
                <a:latin typeface="quote-cjk-patch"/>
              </a:rPr>
              <a:t>Το ρομπότ ξέρει πόσο πλατύ είναι και υπολογίζει αν χωράει να περάσει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2832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7A089-4F2F-05A2-833B-E1EB4D857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 Αναγνώριση Δαπέδου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EE5A71-D84B-5D4E-E7F2-1B8300E1C0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007443"/>
            <a:ext cx="6373114" cy="19243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14009B-70D6-0B74-2DFC-516A9CB609BF}"/>
              </a:ext>
            </a:extLst>
          </p:cNvPr>
          <p:cNvSpPr txBox="1"/>
          <p:nvPr/>
        </p:nvSpPr>
        <p:spPr>
          <a:xfrm>
            <a:off x="1097280" y="4028478"/>
            <a:ext cx="6097464" cy="1636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l-GR" i="0" dirty="0">
                <a:effectLst/>
                <a:latin typeface="quote-cjk-patch"/>
              </a:rPr>
              <a:t>Παίρνει ένα δείγμα του δαπέδου από το κάτω μέρος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l-GR" i="0" dirty="0">
                <a:effectLst/>
                <a:latin typeface="quote-cjk-patch"/>
              </a:rPr>
              <a:t>Υπολογίζει το μέσο χρώμα του δαπέδου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l-GR" i="0" dirty="0">
                <a:effectLst/>
                <a:latin typeface="quote-cjk-patch"/>
              </a:rPr>
              <a:t>Οτιδήποτε διαφέρει από αυτό το χρώμα το χαρακτηρίζει ως "εμπόδιο"</a:t>
            </a:r>
          </a:p>
        </p:txBody>
      </p:sp>
    </p:spTree>
    <p:extLst>
      <p:ext uri="{BB962C8B-B14F-4D97-AF65-F5344CB8AC3E}">
        <p14:creationId xmlns:p14="http://schemas.microsoft.com/office/powerpoint/2010/main" val="3138322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0BC7C-33C3-CEFB-75AE-196F03746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b="1" dirty="0"/>
              <a:t>Αν η Ανάλυση Χρώματος Αποτύχει - </a:t>
            </a:r>
            <a:r>
              <a:rPr lang="el-GR" b="1" dirty="0" err="1"/>
              <a:t>Fallback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CA3676-2B29-49A9-EB11-9C858DC2F9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8646" y="2002744"/>
            <a:ext cx="5410955" cy="10193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5E2A57-660E-9B13-48E6-1C919371E2E3}"/>
              </a:ext>
            </a:extLst>
          </p:cNvPr>
          <p:cNvSpPr txBox="1"/>
          <p:nvPr/>
        </p:nvSpPr>
        <p:spPr>
          <a:xfrm>
            <a:off x="1178646" y="3169558"/>
            <a:ext cx="60974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i="0" dirty="0">
                <a:effectLst/>
                <a:latin typeface="quote-cjk-patch"/>
              </a:rPr>
              <a:t>Αν η ανάλυση χρώματος δεν βγάλει νόημα, χρησιμοποιεί ανίχνευση ακμών (σαν να σχεδιάζει το περίγραμμα των εμποδίων).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6530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71D07-01BE-CEDB-4A70-1F90664A2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Sensor </a:t>
            </a:r>
            <a:r>
              <a:rPr lang="en-GB" b="1" dirty="0" err="1"/>
              <a:t>Fussion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E76C1E-F8AA-C674-AD6E-D013443A26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072331"/>
            <a:ext cx="5315692" cy="12670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E5EAC5-6A8D-EBA0-749B-BE463EABD267}"/>
              </a:ext>
            </a:extLst>
          </p:cNvPr>
          <p:cNvSpPr txBox="1"/>
          <p:nvPr/>
        </p:nvSpPr>
        <p:spPr>
          <a:xfrm>
            <a:off x="1097280" y="3674304"/>
            <a:ext cx="6097464" cy="1636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i="0" dirty="0" err="1">
                <a:effectLst/>
                <a:latin typeface="quote-cjk-patch"/>
              </a:rPr>
              <a:t>Ultrasonic</a:t>
            </a:r>
            <a:r>
              <a:rPr lang="el-GR" i="0" dirty="0">
                <a:effectLst/>
                <a:latin typeface="quote-cjk-patch"/>
              </a:rPr>
              <a:t>: "Εμπόδιο στα 50cm"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i="0" dirty="0">
                <a:effectLst/>
                <a:latin typeface="quote-cjk-patch"/>
              </a:rPr>
              <a:t>Κάμερα: "Στις 50cm, οι ελεύθερες στήλες είναι 100 </a:t>
            </a:r>
            <a:r>
              <a:rPr lang="el-GR" i="0" dirty="0" err="1">
                <a:effectLst/>
                <a:latin typeface="quote-cjk-patch"/>
              </a:rPr>
              <a:t>pixels</a:t>
            </a:r>
            <a:r>
              <a:rPr lang="el-GR" i="0" dirty="0">
                <a:effectLst/>
                <a:latin typeface="quote-cjk-patch"/>
              </a:rPr>
              <a:t>"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l-GR" i="0" dirty="0">
                <a:effectLst/>
                <a:latin typeface="quote-cjk-patch"/>
              </a:rPr>
              <a:t>Μετατροπή: 100 </a:t>
            </a:r>
            <a:r>
              <a:rPr lang="el-GR" i="0" dirty="0" err="1">
                <a:effectLst/>
                <a:latin typeface="quote-cjk-patch"/>
              </a:rPr>
              <a:t>pixels</a:t>
            </a:r>
            <a:r>
              <a:rPr lang="el-GR" i="0" dirty="0">
                <a:effectLst/>
                <a:latin typeface="quote-cjk-patch"/>
              </a:rPr>
              <a:t> × (50cm / 715) = 7 εκατοστά ελεύθερος χώρος</a:t>
            </a:r>
          </a:p>
        </p:txBody>
      </p:sp>
    </p:spTree>
    <p:extLst>
      <p:ext uri="{BB962C8B-B14F-4D97-AF65-F5344CB8AC3E}">
        <p14:creationId xmlns:p14="http://schemas.microsoft.com/office/powerpoint/2010/main" val="3086837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473D2-F018-D702-CF1E-31FAE6884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Απόφαση Κατεύθυνσης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A74BF-F7EA-DA25-58C9-5AEBA8E4C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8B47C1-B99B-0BDB-9706-E0EA3C12B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91" y="1845734"/>
            <a:ext cx="6122132" cy="33363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251116-0A91-D0BF-2F57-85E2E8179AA9}"/>
              </a:ext>
            </a:extLst>
          </p:cNvPr>
          <p:cNvSpPr txBox="1"/>
          <p:nvPr/>
        </p:nvSpPr>
        <p:spPr>
          <a:xfrm>
            <a:off x="6365632" y="1737360"/>
            <a:ext cx="548640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Αποφασίζει πού να στρίψει με βάση τον πραγματικό ελεύθερο χώρο σε </a:t>
            </a:r>
            <a:r>
              <a:rPr lang="el-GR" b="0" i="0" dirty="0" err="1">
                <a:effectLst/>
                <a:latin typeface="quote-cjk-patch"/>
              </a:rPr>
              <a:t>cm</a:t>
            </a:r>
            <a:endParaRPr lang="en-GB" b="0" i="0" dirty="0">
              <a:effectLst/>
              <a:latin typeface="quote-cjk-patch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Αν τα δύο μέρη είναι σχεδόν ίσα, κρατάει την προηγούμενη κατεύθυνση (αποφεύγει ταλαντεύσεις)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quote-cjk-patch"/>
              </a:rPr>
              <a:t>Υπολογίζει πόσο "επικίνδυνη" είναι η κατάσταση και προσαρμόζει ανάλογα: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b="1" i="0" dirty="0">
                <a:effectLst/>
                <a:latin typeface="quote-cjk-patch"/>
              </a:rPr>
              <a:t>Πιο κοντινό εμπόδιο</a:t>
            </a:r>
            <a:r>
              <a:rPr lang="el-GR" b="0" i="0" dirty="0">
                <a:effectLst/>
                <a:latin typeface="quote-cjk-patch"/>
              </a:rPr>
              <a:t> → Πιο δυνατή στροφή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b="1" i="0" dirty="0">
                <a:effectLst/>
                <a:latin typeface="quote-cjk-patch"/>
              </a:rPr>
              <a:t>Πιο στενός διάδρομος</a:t>
            </a:r>
            <a:r>
              <a:rPr lang="el-GR" b="0" i="0" dirty="0">
                <a:effectLst/>
                <a:latin typeface="quote-cjk-patch"/>
              </a:rPr>
              <a:t> → Πιο δυνατή στροφή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l-GR" b="1" i="0" dirty="0">
                <a:effectLst/>
                <a:latin typeface="quote-cjk-patch"/>
              </a:rPr>
              <a:t>Μεγάλη διαφορά L/R</a:t>
            </a:r>
            <a:r>
              <a:rPr lang="el-GR" b="0" i="0" dirty="0">
                <a:effectLst/>
                <a:latin typeface="quote-cjk-patch"/>
              </a:rPr>
              <a:t> → Πιο δυνατή στροφή</a:t>
            </a:r>
          </a:p>
        </p:txBody>
      </p:sp>
    </p:spTree>
    <p:extLst>
      <p:ext uri="{BB962C8B-B14F-4D97-AF65-F5344CB8AC3E}">
        <p14:creationId xmlns:p14="http://schemas.microsoft.com/office/powerpoint/2010/main" val="86017529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35</TotalTime>
  <Words>623</Words>
  <Application>Microsoft Office PowerPoint</Application>
  <PresentationFormat>Widescreen</PresentationFormat>
  <Paragraphs>98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quote-cjk-patch</vt:lpstr>
      <vt:lpstr>Retrospect</vt:lpstr>
      <vt:lpstr>Κατασκευή Αυτοκινούμενου Οχήματος  με Arduino UNO για Αποφυγή Εμποδίων</vt:lpstr>
      <vt:lpstr>PowerPoint Presentation</vt:lpstr>
      <vt:lpstr>Βιβλιοθήκες &amp; Ορισμός Pin</vt:lpstr>
      <vt:lpstr>Παράμετροι Λειτουργίας</vt:lpstr>
      <vt:lpstr>Συνάρτηση Setup()</vt:lpstr>
      <vt:lpstr>Βασικός Βρόγχος loop()</vt:lpstr>
      <vt:lpstr>Μέτρηση Απόστασης</vt:lpstr>
      <vt:lpstr>Σάρωση με Σερβοκινητήρα</vt:lpstr>
      <vt:lpstr>Έλεγχος Κινητήρων</vt:lpstr>
      <vt:lpstr>PowerPoint Presentation</vt:lpstr>
      <vt:lpstr>Εισαγωγή Βιβλιοθηκών</vt:lpstr>
      <vt:lpstr>Ρυθμίσεις Επικοινωνίας &amp; Κάμερας</vt:lpstr>
      <vt:lpstr>Βαθμονόμηση (F_PX)</vt:lpstr>
      <vt:lpstr> Περιοχή Ενδιαφέροντος (ROI)</vt:lpstr>
      <vt:lpstr>Παράμετροι Συμπεριφοράς</vt:lpstr>
      <vt:lpstr>Προσαρμοζόμενοι Χρόνοι Στροφής</vt:lpstr>
      <vt:lpstr>Γεωμετρία Ρομπότ</vt:lpstr>
      <vt:lpstr> Αναγνώριση Δαπέδου</vt:lpstr>
      <vt:lpstr>Αν η Ανάλυση Χρώματος Αποτύχει - Fallback</vt:lpstr>
      <vt:lpstr>Sensor Fussion</vt:lpstr>
      <vt:lpstr>Απόφαση Κατεύθυνσης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Kotsis</dc:creator>
  <cp:lastModifiedBy>John Kotsis</cp:lastModifiedBy>
  <cp:revision>2</cp:revision>
  <dcterms:created xsi:type="dcterms:W3CDTF">2026-02-14T08:01:33Z</dcterms:created>
  <dcterms:modified xsi:type="dcterms:W3CDTF">2026-02-14T08:53:23Z</dcterms:modified>
</cp:coreProperties>
</file>